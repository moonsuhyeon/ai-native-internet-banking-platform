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"/>
            <a:ext cx="11338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① 실제 아키텍처 — 도메인 소유를 색으로 구분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31520"/>
            <a:ext cx="11274552" cy="21945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4124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81381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내 인증보안계 (customer-service)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7870" y="84124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9894" y="81381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내 조사 에이전트 (fraud-agent)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2625" y="841248"/>
            <a:ext cx="137160" cy="137160"/>
          </a:xfrm>
          <a:prstGeom prst="roundRect">
            <a:avLst>
              <a:gd name="adj" fmla="val 20000"/>
            </a:avLst>
          </a:prstGeom>
          <a:solidFill>
            <a:srgbClr val="6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4649" y="813816"/>
            <a:ext cx="365760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 / 공동 (web·결제·수신·여신)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468880" cy="603504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 w="12700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07592"/>
            <a:ext cx="2249424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Browser · web (Next.js)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api.ts: Bearer · X-Customer-Id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401 → 자동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234440"/>
            <a:ext cx="31089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234440"/>
            <a:ext cx="4315968" cy="603504"/>
          </a:xfrm>
          <a:prstGeom prst="roundRect">
            <a:avLst>
              <a:gd name="adj" fmla="val 6000"/>
            </a:avLst>
          </a:prstGeom>
          <a:solidFill>
            <a:srgbClr val="ECF1F9"/>
          </a:solidFill>
          <a:ln w="127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307592"/>
            <a:ext cx="409651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API Gateway  🟦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JWT(ACCESS) 검증 · X-User-Id/Role/Employee-Id 주입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</a:pPr>
            <a:r>
              <a:rPr sz="79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위조 X-* 제거(스푸핑 차단) · 경로별 ROLE 게이팅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11680"/>
            <a:ext cx="7132320" cy="2148840"/>
          </a:xfrm>
          <a:prstGeom prst="roundRect">
            <a:avLst>
              <a:gd name="adj" fmla="val 6000"/>
            </a:avLst>
          </a:prstGeom>
          <a:solidFill>
            <a:srgbClr val="ECF1F9"/>
          </a:solidFill>
          <a:ln w="1905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084832"/>
            <a:ext cx="68762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customer-service (Spring Boot) · 인증보안계  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395728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468880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security 필터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GatewayHeaderAuthFilter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InternalApiRoleInterceptor(/internal ROLE)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96512" y="2395728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2468880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AuthEventService — 로그인 후처리 허브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login_attempt·certificate_use·mobile_auth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session·api_token 적재 → FDS 평가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236976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310128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FdsService — 룰엔진(실행됨)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condition_json {window,threshold}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COUNT ≥ 임계 → BLOCK / MONITOR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6512" y="3236976"/>
            <a:ext cx="3346704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3310128"/>
            <a:ext cx="316382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InternalAuthEventsController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/api/v1/internal/auth/{id}/events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← 조사 에이전트 진입점(실배선)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922776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→ PostgreSQL (34 tables) · Redis(refresh 토큰)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1234440"/>
            <a:ext cx="3913632" cy="2926080"/>
          </a:xfrm>
          <a:prstGeom prst="roundRect">
            <a:avLst>
              <a:gd name="adj" fmla="val 6000"/>
            </a:avLst>
          </a:prstGeom>
          <a:solidFill>
            <a:srgbClr val="F7EAEF"/>
          </a:solidFill>
          <a:ln w="19050">
            <a:solidFill>
              <a:srgbClr val="8E2F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46136" y="13075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fraud-investigation-agent  🟪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FastAPI :8090 · LangGraph · 내 도메인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4" y="1801368"/>
            <a:ext cx="362102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5864" y="1856232"/>
            <a:ext cx="34381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graph 루프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hypothesize→plan→act→observe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→gate(conf≥0.75/fail-closed)→recommend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64424" y="2404872"/>
            <a:ext cx="3621024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5864" y="2459736"/>
            <a:ext cx="3438144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tools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get_auth_events ★실배선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(그 외 7개 목)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64424" y="3008376"/>
            <a:ext cx="362102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55864" y="3063240"/>
            <a:ext cx="3438144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HITL + RBAC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interrupt → 승인 + FRAUD_OFFICER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64424" y="3483864"/>
            <a:ext cx="3621024" cy="384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4" y="3538728"/>
            <a:ext cx="3438144" cy="29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819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출력: 권고(ProposedAction)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FREEZE_PAYMENT·FILE_STR·ESCALATE·NONE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788920"/>
            <a:ext cx="2560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291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get_auth_events → /internal/auth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315968"/>
            <a:ext cx="7132320" cy="868680"/>
          </a:xfrm>
          <a:prstGeom prst="roundRect">
            <a:avLst>
              <a:gd name="adj" fmla="val 6000"/>
            </a:avLst>
          </a:prstGeom>
          <a:solidFill>
            <a:srgbClr val="F1F3F6"/>
          </a:solidFill>
          <a:ln w="12700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407407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 (팀)  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payment-service 결제계(임현재): </a:t>
            </a:r>
            <a:r>
              <a:rPr sz="8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payment_instruction</a:t>
            </a:r>
            <a:r>
              <a:rPr sz="80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← </a:t>
            </a: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auth_token_id·sender_user_id</a:t>
            </a:r>
            <a:r>
              <a:rPr sz="78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 (내 인증 참조·박제)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deposit 수신(정혜영) · loan 여신(양혜민) · web 프론트(공동)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4069080"/>
            <a:ext cx="457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069080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api_token / 인증 핸드오프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4315968"/>
            <a:ext cx="3913632" cy="868680"/>
          </a:xfrm>
          <a:prstGeom prst="roundRect">
            <a:avLst>
              <a:gd name="adj" fmla="val 6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82712" y="4407408"/>
            <a:ext cx="3611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경계 요약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파랑+자주(게이트웨이·인증·FDS·조사 에이전트)가 </a:t>
            </a:r>
            <a:r>
              <a:rPr sz="8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내 구현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결제/수신/여신·프론트는 팀. 결제계는 내 auth_token 참조.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실제 시스템 아키텍처  ·  </a:t>
            </a:r>
            <a:r>
              <a:rPr sz="9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🟦 게이트웨이+인증보안계  +  🟪 조사 에이전트 = 내 구현   ·   ⬜ 결제·수신·여신·프론트 = 팀/공동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338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② 이벤트 처리 모델 — Event → Rule → Decision → Action  (도메인 태그)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786384"/>
            <a:ext cx="11274552" cy="21945"/>
          </a:xfrm>
          <a:prstGeom prst="roundRect">
            <a:avLst>
              <a:gd name="adj" fmla="val 6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96112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868680"/>
            <a:ext cx="3383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인증보안계 (내 도메인)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7633" y="896112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98801" y="868680"/>
            <a:ext cx="3383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조사 에이전트 (내 도메인)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99001" y="896112"/>
            <a:ext cx="146304" cy="146304"/>
          </a:xfrm>
          <a:prstGeom prst="roundRect">
            <a:avLst>
              <a:gd name="adj" fmla="val 20000"/>
            </a:avLst>
          </a:prstGeom>
          <a:solidFill>
            <a:srgbClr val="6B74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00169" y="868680"/>
            <a:ext cx="3383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타 도메인 / 미구현(설계)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 Event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이벤트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234440"/>
            <a:ext cx="274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 Rule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신호 변환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234440"/>
            <a:ext cx="274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B5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 Decision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234440"/>
            <a:ext cx="274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56A1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234440"/>
            <a:ext cx="2697480" cy="475488"/>
          </a:xfrm>
          <a:prstGeom prst="roundRect">
            <a:avLst>
              <a:gd name="adj" fmla="val 10000"/>
            </a:avLst>
          </a:prstGeom>
          <a:solidFill>
            <a:srgbClr val="8E2F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1234440"/>
            <a:ext cx="2514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 Action  </a:t>
            </a:r>
            <a:r>
              <a:rPr sz="1050" b="1">
                <a:solidFill>
                  <a:srgbClr val="E4ECF5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828800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은행 실측 (코드 근거) — 각 항목에 소유 도메인 태그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084831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EDF2FA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login_attempt · certificate_use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mobile_auth · password_history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append-only · CHECK 통제어휘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2084831"/>
            <a:ext cx="27432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084831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E9F4F3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78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FDS 룰엔진 {window,threshold}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→ COUNT ≥ 임계 · risk_weight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30분10회·10분5회·1일3회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에이전트 likelihood 가중(곱셈)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2084831"/>
            <a:ext cx="27432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84831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BF2E6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저위험 → BLOCK / MONITOR (실시간)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고위험 → 에이전트 조사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  conf≥0.75·fail-closed·L0~L4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[설계]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고위험 자동승격 = 미배선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084831"/>
            <a:ext cx="27432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2084831"/>
            <a:ext cx="2697480" cy="1965960"/>
          </a:xfrm>
          <a:prstGeom prst="roundRect">
            <a:avLst>
              <a:gd name="adj" fmla="val 6000"/>
            </a:avLst>
          </a:prstGeom>
          <a:solidFill>
            <a:srgbClr val="F7EAEF"/>
          </a:solidFill>
          <a:ln w="635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2203703"/>
            <a:ext cx="2459736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[인증]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로그인 차단 · 계정 잠금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FREEZE_PAYMENT·FILE_STR·ESCALATE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8E2F4E"/>
                </a:solidFill>
                <a:latin typeface="Malgun Gothic"/>
                <a:ea typeface="Malgun Gothic"/>
                <a:cs typeface="Malgun Gothic"/>
              </a:rPr>
              <a:t>[조사E]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HITL 승인 + RBAC(FRAUD_OFFICER)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73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[설계] </a:t>
            </a:r>
            <a:r>
              <a:rPr sz="86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실행 API=목 · 지급정지 착지=결제계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87952"/>
            <a:ext cx="112745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CRM · 그로스 번역 </a:t>
            </a:r>
            <a:r>
              <a:rPr sz="9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(같은 4단계 뼈대 · 전부 </a:t>
            </a:r>
            <a:r>
              <a:rPr sz="95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설계/번역</a:t>
            </a:r>
            <a:r>
              <a:rPr sz="95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443984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signup_started · first_purchase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cart_abandoned · 7d_inactive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4443984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4443984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478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세그먼트 조건 / 트리거 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(= condition_json 동형)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4443984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4443984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발송 자격 판정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동의 · cap · A/B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443984"/>
            <a:ext cx="2743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72600" y="4443984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9525">
            <a:solidFill>
              <a:srgbClr val="6B74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1472" y="4553712"/>
            <a:ext cx="245973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>
                <a:solidFill>
                  <a:srgbClr val="515A6B"/>
                </a:solidFill>
                <a:latin typeface="Malgun Gothic"/>
                <a:ea typeface="Malgun Gothic"/>
                <a:cs typeface="Malgun Gothic"/>
              </a:rPr>
              <a:t>메시지 발송(쿠폰·리마인드)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채널 · 시점 선택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504688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605272"/>
            <a:ext cx="10835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3A6B"/>
                </a:solidFill>
                <a:latin typeface="Malgun Gothic"/>
                <a:ea typeface="Malgun Gothic"/>
                <a:cs typeface="Malgun Gothic"/>
              </a:rPr>
              <a:t>경계 요약  </a:t>
            </a:r>
            <a:r>
              <a:rPr sz="930" b="1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4단계의 실체는 대부분 내가 만든 두 시스템</a:t>
            </a:r>
            <a:r>
              <a:rPr sz="9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 — 🟦 인증보안계(FDS·이벤트 적재·계정 잠금) + 🟪 조사 에이전트(고위험 조사·권고·HITL).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B7485"/>
                </a:solidFill>
                <a:latin typeface="Malgun Gothic"/>
                <a:ea typeface="Malgun Gothic"/>
                <a:cs typeface="Malgun Gothic"/>
              </a:rPr>
              <a:t>설계/타 도메인은 3곳뿐  </a:t>
            </a:r>
            <a:r>
              <a:rPr sz="930" b="0">
                <a:solidFill>
                  <a:srgbClr val="1A2B45"/>
                </a:solidFill>
                <a:latin typeface="Malgun Gothic"/>
                <a:ea typeface="Malgun Gothic"/>
                <a:cs typeface="Malgun Gothic"/>
              </a:rPr>
              <a:t>① 고위험 자동승격(미배선) ② 실행 API·지급정지 착지(결제계) ③ CRM 번역.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382512"/>
            <a:ext cx="11338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9EC5E8"/>
                </a:solidFill>
                <a:latin typeface="Malgun Gothic"/>
                <a:ea typeface="Malgun Gothic"/>
                <a:cs typeface="Malgun Gothic"/>
              </a:rPr>
              <a:t>이벤트 처리 모델 · Event→Rule→Decision→Action  </a:t>
            </a:r>
            <a:r>
              <a:rPr sz="98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🟦 인증보안계 + 🟪 조사 에이전트 = 내 구현  ·  ⬜ 자동승격·실행API·CRM =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