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338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이벤트 택소노미 스펙 </a:t>
            </a:r>
            <a:r>
              <a:rPr sz="1500" b="1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(완성형)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이벤트를 '정의'로 끝내지 않고 </a:t>
            </a:r>
            <a:r>
              <a:rPr sz="12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KPI · 룰엔진 · CRM 트리거로 소비(⑤)</a:t>
            </a:r>
            <a:r>
              <a:rPr sz="12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하는 지점과 </a:t>
            </a:r>
            <a:r>
              <a:rPr sz="1200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실제 소스 테이블(⑥)</a:t>
            </a:r>
            <a:r>
              <a:rPr sz="12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까지 담은 명세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24128"/>
            <a:ext cx="11274552" cy="23774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52144"/>
          <a:ext cx="11274551" cy="3086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320"/>
                <a:gridCol w="1463040"/>
                <a:gridCol w="1874519"/>
                <a:gridCol w="658368"/>
                <a:gridCol w="3520440"/>
                <a:gridCol w="2340864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이벤트명</a:t>
                      </a:r>
                    </a:p>
                  </a:txBody>
                  <a:tcPr anchor="ctr" marL="64008" marR="45720" marT="9144" marB="9144"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트리거</a:t>
                      </a:r>
                    </a:p>
                  </a:txBody>
                  <a:tcPr anchor="ctr" marL="64008" marR="45720" marT="9144" marB="9144"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파라미터</a:t>
                      </a:r>
                    </a:p>
                  </a:txBody>
                  <a:tcPr anchor="ctr" marL="64008" marR="45720" marT="9144" marB="9144"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PII</a:t>
                      </a:r>
                    </a:p>
                  </a:txBody>
                  <a:tcPr anchor="ctr" marL="64008" marR="45720" marT="9144" marB="9144"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소비 ⑤  ·  KPI / 룰 / CRM</a:t>
                      </a:r>
                    </a:p>
                  </a:txBody>
                  <a:tcPr anchor="ctr" marL="64008" marR="45720" marT="9144" marB="9144">
                    <a:solidFill>
                      <a:srgbClr val="1B3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⑥ (Provenance)</a:t>
                      </a:r>
                    </a:p>
                  </a:txBody>
                  <a:tcPr anchor="ctr" marL="64008" marR="45720" marT="9144" marB="9144">
                    <a:solidFill>
                      <a:srgbClr val="1B3A6B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1A2B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login_request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515A6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 시도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515A6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login_id · channel · ip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6B748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–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0" b="1">
                          <a:solidFill>
                            <a:srgbClr val="0E7C8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KPI </a:t>
                      </a:r>
                      <a:r>
                        <a:rPr sz="780" b="0">
                          <a:solidFill>
                            <a:srgbClr val="1A2B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 성공률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1">
                          <a:solidFill>
                            <a:srgbClr val="1A2B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login_attempt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1A2B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login_success</a:t>
                      </a:r>
                    </a:p>
                  </a:txBody>
                  <a:tcPr anchor="ctr" marL="64008" marR="45720" marT="9144" marB="9144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515A6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 성공</a:t>
                      </a:r>
                    </a:p>
                  </a:txBody>
                  <a:tcPr anchor="ctr" marL="64008" marR="45720" marT="9144" marB="9144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515A6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customer_id · session_id</a:t>
                      </a:r>
                    </a:p>
                  </a:txBody>
                  <a:tcPr anchor="ctr" marL="64008" marR="45720" marT="9144" marB="9144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E2F4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유사식별</a:t>
                      </a:r>
                    </a:p>
                  </a:txBody>
                  <a:tcPr anchor="ctr" marL="64008" marR="45720" marT="9144" marB="9144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0" b="1">
                          <a:solidFill>
                            <a:srgbClr val="0E7C8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KPI </a:t>
                      </a:r>
                      <a:r>
                        <a:rPr sz="780" b="0">
                          <a:solidFill>
                            <a:srgbClr val="1A2B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성공률</a:t>
                      </a:r>
                      <a:r>
                        <a:rPr sz="800" b="0">
                          <a:solidFill>
                            <a:srgbClr val="6B748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 </a:t>
                      </a:r>
                      <a:r>
                        <a:rPr sz="760" b="1">
                          <a:solidFill>
                            <a:srgbClr val="B56A1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CRM </a:t>
                      </a:r>
                      <a:r>
                        <a:rPr sz="780" b="0">
                          <a:solidFill>
                            <a:srgbClr val="1A2B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재방문 세그먼트</a:t>
                      </a:r>
                    </a:p>
                  </a:txBody>
                  <a:tcPr anchor="ctr" marL="64008" marR="45720" marT="9144" marB="9144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1">
                          <a:solidFill>
                            <a:srgbClr val="1A2B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login_attempt · login_session</a:t>
                      </a:r>
                    </a:p>
                  </a:txBody>
                  <a:tcPr anchor="ctr" marL="64008" marR="45720" marT="9144" marB="9144">
                    <a:solidFill>
                      <a:srgbClr val="F4F7FB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1A2B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login_failure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515A6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 실패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515A6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failure_reason(CUST_010~013)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6B748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–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0" b="1">
                          <a:solidFill>
                            <a:srgbClr val="0E7C8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KPI </a:t>
                      </a:r>
                      <a:r>
                        <a:rPr sz="780" b="0">
                          <a:solidFill>
                            <a:srgbClr val="1A2B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실패율</a:t>
                      </a:r>
                      <a:r>
                        <a:rPr sz="800" b="0">
                          <a:solidFill>
                            <a:srgbClr val="6B748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 </a:t>
                      </a:r>
                      <a:r>
                        <a:rPr sz="760" b="1">
                          <a:solidFill>
                            <a:srgbClr val="8E2F4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룰 </a:t>
                      </a:r>
                      <a:r>
                        <a:rPr sz="780" b="0">
                          <a:solidFill>
                            <a:srgbClr val="1A2B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FDS 30분 10회→BLOCK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1">
                          <a:solidFill>
                            <a:srgbClr val="1A2B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login_attempt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1A2B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otp_sent</a:t>
                      </a:r>
                    </a:p>
                  </a:txBody>
                  <a:tcPr anchor="ctr" marL="64008" marR="45720" marT="9144" marB="9144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515A6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인증번호 발송</a:t>
                      </a:r>
                    </a:p>
                  </a:txBody>
                  <a:tcPr anchor="ctr" marL="64008" marR="45720" marT="9144" marB="9144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515A6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phone · carrier · purpose</a:t>
                      </a:r>
                    </a:p>
                  </a:txBody>
                  <a:tcPr anchor="ctr" marL="64008" marR="45720" marT="9144" marB="9144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E2F4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마스킹</a:t>
                      </a:r>
                    </a:p>
                  </a:txBody>
                  <a:tcPr anchor="ctr" marL="64008" marR="45720" marT="9144" marB="9144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0" b="1">
                          <a:solidFill>
                            <a:srgbClr val="0E7C8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KPI </a:t>
                      </a:r>
                      <a:r>
                        <a:rPr sz="780" b="0">
                          <a:solidFill>
                            <a:srgbClr val="1A2B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OTP 성공률</a:t>
                      </a:r>
                    </a:p>
                  </a:txBody>
                  <a:tcPr anchor="ctr" marL="64008" marR="45720" marT="9144" marB="9144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1">
                          <a:solidFill>
                            <a:srgbClr val="1A2B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mobile_auth</a:t>
                      </a:r>
                    </a:p>
                  </a:txBody>
                  <a:tcPr anchor="ctr" marL="64008" marR="45720" marT="9144" marB="9144">
                    <a:solidFill>
                      <a:srgbClr val="F4F7FB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1A2B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identity_verified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515A6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CI 생성(본인확인)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515A6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ci · birth · gender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E2F4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해시/암호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0" b="1">
                          <a:solidFill>
                            <a:srgbClr val="0E7C8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KPI </a:t>
                      </a:r>
                      <a:r>
                        <a:rPr sz="780" b="0">
                          <a:solidFill>
                            <a:srgbClr val="1A2B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가입 전환율</a:t>
                      </a:r>
                      <a:r>
                        <a:rPr sz="800" b="0">
                          <a:solidFill>
                            <a:srgbClr val="6B748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 </a:t>
                      </a:r>
                      <a:r>
                        <a:rPr sz="760" b="1">
                          <a:solidFill>
                            <a:srgbClr val="B56A1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CRM </a:t>
                      </a:r>
                      <a:r>
                        <a:rPr sz="780" b="0">
                          <a:solidFill>
                            <a:srgbClr val="1A2B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 웰컴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1">
                          <a:solidFill>
                            <a:srgbClr val="1A2B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identity_verification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1A2B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cert_login_failure</a:t>
                      </a:r>
                    </a:p>
                  </a:txBody>
                  <a:tcPr anchor="ctr" marL="64008" marR="45720" marT="9144" marB="9144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515A6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인증서 실패</a:t>
                      </a:r>
                    </a:p>
                  </a:txBody>
                  <a:tcPr anchor="ctr" marL="64008" marR="45720" marT="9144" marB="9144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515A6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result_code(FAIL_PIN 등)</a:t>
                      </a:r>
                    </a:p>
                  </a:txBody>
                  <a:tcPr anchor="ctr" marL="64008" marR="45720" marT="9144" marB="9144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6B748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–</a:t>
                      </a:r>
                    </a:p>
                  </a:txBody>
                  <a:tcPr anchor="ctr" marL="64008" marR="45720" marT="9144" marB="9144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0" b="1">
                          <a:solidFill>
                            <a:srgbClr val="8E2F4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룰 </a:t>
                      </a:r>
                      <a:r>
                        <a:rPr sz="780" b="0">
                          <a:solidFill>
                            <a:srgbClr val="1A2B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FDS 10분 5회→BLOCK</a:t>
                      </a:r>
                    </a:p>
                  </a:txBody>
                  <a:tcPr anchor="ctr" marL="64008" marR="45720" marT="9144" marB="9144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1">
                          <a:solidFill>
                            <a:srgbClr val="1A2B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certificate_use</a:t>
                      </a:r>
                    </a:p>
                  </a:txBody>
                  <a:tcPr anchor="ctr" marL="64008" marR="45720" marT="9144" marB="9144">
                    <a:solidFill>
                      <a:srgbClr val="F4F7FB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1A2B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password_changed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515A6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 변경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515A6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channel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6B748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–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0" b="1">
                          <a:solidFill>
                            <a:srgbClr val="8E2F4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룰 </a:t>
                      </a:r>
                      <a:r>
                        <a:rPr sz="780" b="0">
                          <a:solidFill>
                            <a:srgbClr val="1A2B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FDS 1일 3회→MONITOR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1">
                          <a:solidFill>
                            <a:srgbClr val="1A2B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password_history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1A2B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transfer_completed</a:t>
                      </a:r>
                    </a:p>
                  </a:txBody>
                  <a:tcPr anchor="ctr" marL="64008" marR="45720" marT="9144" marB="9144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515A6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이체 성공(Aha)</a:t>
                      </a:r>
                    </a:p>
                  </a:txBody>
                  <a:tcPr anchor="ctr" marL="64008" marR="45720" marT="9144" marB="9144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515A6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amount_band · recipient_type</a:t>
                      </a:r>
                    </a:p>
                  </a:txBody>
                  <a:tcPr anchor="ctr" marL="64008" marR="45720" marT="9144" marB="9144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8E2F4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버킷</a:t>
                      </a:r>
                    </a:p>
                  </a:txBody>
                  <a:tcPr anchor="ctr" marL="64008" marR="45720" marT="9144" marB="9144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0" b="1">
                          <a:solidFill>
                            <a:srgbClr val="0E7C8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KPI </a:t>
                      </a:r>
                      <a:r>
                        <a:rPr sz="780" b="0">
                          <a:solidFill>
                            <a:srgbClr val="1A2B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활성화율(TTV)</a:t>
                      </a:r>
                      <a:r>
                        <a:rPr sz="800" b="0">
                          <a:solidFill>
                            <a:srgbClr val="6B748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 </a:t>
                      </a:r>
                      <a:r>
                        <a:rPr sz="760" b="1">
                          <a:solidFill>
                            <a:srgbClr val="B56A1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CRM </a:t>
                      </a:r>
                      <a:r>
                        <a:rPr sz="780" b="0">
                          <a:solidFill>
                            <a:srgbClr val="1A2B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크로스셀</a:t>
                      </a:r>
                    </a:p>
                  </a:txBody>
                  <a:tcPr anchor="ctr" marL="64008" marR="45720" marT="9144" marB="9144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6B748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거래계(계획)</a:t>
                      </a:r>
                    </a:p>
                  </a:txBody>
                  <a:tcPr anchor="ctr" marL="64008" marR="45720" marT="9144" marB="9144">
                    <a:solidFill>
                      <a:srgbClr val="F4F7FB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1A2B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customer_status_changed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515A6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 전환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0">
                          <a:solidFill>
                            <a:srgbClr val="515A6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from_status · to_status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6B748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–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0" b="1">
                          <a:solidFill>
                            <a:srgbClr val="0E7C8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KPI </a:t>
                      </a:r>
                      <a:r>
                        <a:rPr sz="780" b="0">
                          <a:solidFill>
                            <a:srgbClr val="1A2B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휴면율</a:t>
                      </a:r>
                      <a:r>
                        <a:rPr sz="800" b="0">
                          <a:solidFill>
                            <a:srgbClr val="6B748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 </a:t>
                      </a:r>
                      <a:r>
                        <a:rPr sz="760" b="1">
                          <a:solidFill>
                            <a:srgbClr val="B56A1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CRM </a:t>
                      </a:r>
                      <a:r>
                        <a:rPr sz="780" b="0">
                          <a:solidFill>
                            <a:srgbClr val="1A2B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윈백 캠페인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80" b="1">
                          <a:solidFill>
                            <a:srgbClr val="1A2B4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customer_status_history</a:t>
                      </a:r>
                    </a:p>
                  </a:txBody>
                  <a:tcPr anchor="ctr" marL="64008" marR="45720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315968"/>
            <a:ext cx="11274552" cy="786384"/>
          </a:xfrm>
          <a:prstGeom prst="roundRect">
            <a:avLst>
              <a:gd name="adj" fmla="val 6000"/>
            </a:avLst>
          </a:prstGeom>
          <a:solidFill>
            <a:srgbClr val="ED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4407407"/>
            <a:ext cx="108813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④ 아이덴티티 &amp; 상태  </a:t>
            </a:r>
            <a:r>
              <a:rPr sz="9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스티칭: 익명 anonymous_id  →  본인확인 ci(해시)  →  식별 user_id (= customer_id · 한 사람=한 party)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상태전이: </a:t>
            </a:r>
            <a:r>
              <a:rPr sz="9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OTP(발송→검증/실패/만료) · LOGIN(시도→성공/실패→잠금) · SESSION(생성→만료) · 고객(활성→휴면→정지→해지)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175504"/>
            <a:ext cx="5532120" cy="91440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5266944"/>
            <a:ext cx="5166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③ 네이밍 &amp; 거버넌스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3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snake_case · 화면명 아닌 '비즈니스 이벤트'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3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공통 파라미터 customer_id · event_time 필수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3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값 enum 통제(= 백엔드 CHECK) · 버전관리(Flyway)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5175504"/>
            <a:ext cx="5532120" cy="914400"/>
          </a:xfrm>
          <a:prstGeom prst="roundRect">
            <a:avLst>
              <a:gd name="adj" fmla="val 6000"/>
            </a:avLst>
          </a:prstGeom>
          <a:solidFill>
            <a:srgbClr val="F7EAEF"/>
          </a:solidFill>
          <a:ln w="9525">
            <a:solidFill>
              <a:srgbClr val="8E2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5266944"/>
            <a:ext cx="5166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⑤ 소비의 핵심 — 실제 룰엔진 (실행됨)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FDS: </a:t>
            </a:r>
            <a:r>
              <a:rPr sz="83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condition_json </a:t>
            </a:r>
            <a:r>
              <a:rPr sz="830" b="0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{window, threshold}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→ 시간창 COUNT ≥ 임계 → </a:t>
            </a:r>
            <a:r>
              <a:rPr sz="830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BLOCK</a:t>
            </a:r>
            <a:r>
              <a:rPr sz="83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 / </a:t>
            </a:r>
            <a:r>
              <a:rPr sz="830" b="1">
                <a:solidFill>
                  <a:srgbClr val="B56A1F"/>
                </a:solidFill>
                <a:latin typeface="Malgun Gothic"/>
                <a:ea typeface="Malgun Gothic"/>
                <a:cs typeface="Malgun Gothic"/>
              </a:rPr>
              <a:t>MONITOR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이벤트가 '로그'로 끝나지 않고 '판정'에 소비된다.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382512"/>
            <a:ext cx="113385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9EC5E8"/>
                </a:solidFill>
                <a:latin typeface="Malgun Gothic"/>
                <a:ea typeface="Malgun Gothic"/>
                <a:cs typeface="Malgun Gothic"/>
              </a:rPr>
              <a:t>이벤트 택소노미 스펙  </a:t>
            </a:r>
            <a:r>
              <a:rPr sz="98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6레이어 = 카탈로그① · 파라미터② · PII③ · 아이덴티티/상태④ · 소비⑤ · 근거⑥</a:t>
            </a:r>
            <a:r>
              <a:rPr sz="830" b="0">
                <a:solidFill>
                  <a:srgbClr val="B9CBE0"/>
                </a:solidFill>
                <a:latin typeface="Malgun Gothic"/>
                <a:ea typeface="Malgun Gothic"/>
                <a:cs typeface="Malgun Gothic"/>
              </a:rPr>
              <a:t>      소스 검정=실측 · 회색=계획(미구축)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