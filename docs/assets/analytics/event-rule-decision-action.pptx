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338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Event → Rule → Decision → Action  </a:t>
            </a:r>
            <a:r>
              <a:rPr sz="20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생애주기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이벤트 택소노미 '소비 모델' — 이벤트를 정의로 끝내지 않고 판정·실행까지. 은행 실측(백엔드 FDS + 조사 에이전트) + CRM 번역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42415"/>
            <a:ext cx="11274552" cy="23774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14600" cy="548640"/>
          </a:xfrm>
          <a:prstGeom prst="roundRect">
            <a:avLst>
              <a:gd name="adj" fmla="val 10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2331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 Event  </a:t>
            </a:r>
            <a:r>
              <a:rPr sz="1100" b="1">
                <a:solidFill>
                  <a:srgbClr val="E4ECF5"/>
                </a:solidFill>
                <a:latin typeface="Malgun Gothic"/>
                <a:ea typeface="Malgun Gothic"/>
                <a:cs typeface="Malgun Gothic"/>
              </a:rPr>
              <a:t>이벤트 적재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188720"/>
            <a:ext cx="40233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4136" y="1188720"/>
            <a:ext cx="2514600" cy="548640"/>
          </a:xfrm>
          <a:prstGeom prst="roundRect">
            <a:avLst>
              <a:gd name="adj" fmla="val 10000"/>
            </a:avLst>
          </a:prstGeom>
          <a:solidFill>
            <a:srgbClr val="0E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65576" y="1188720"/>
            <a:ext cx="2331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 Rule  </a:t>
            </a:r>
            <a:r>
              <a:rPr sz="1100" b="1">
                <a:solidFill>
                  <a:srgbClr val="E4ECF5"/>
                </a:solidFill>
                <a:latin typeface="Malgun Gothic"/>
                <a:ea typeface="Malgun Gothic"/>
                <a:cs typeface="Malgun Gothic"/>
              </a:rPr>
              <a:t>신호 변환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88736" y="1188720"/>
            <a:ext cx="40233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E6E7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188720"/>
            <a:ext cx="2514600" cy="548640"/>
          </a:xfrm>
          <a:prstGeom prst="roundRect">
            <a:avLst>
              <a:gd name="adj" fmla="val 10000"/>
            </a:avLst>
          </a:prstGeom>
          <a:solidFill>
            <a:srgbClr val="B5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188720"/>
            <a:ext cx="2331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 Decision  </a:t>
            </a:r>
            <a:r>
              <a:rPr sz="1100" b="1">
                <a:solidFill>
                  <a:srgbClr val="E4ECF5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5672" y="1188720"/>
            <a:ext cx="40233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08008" y="1188720"/>
            <a:ext cx="2514600" cy="548640"/>
          </a:xfrm>
          <a:prstGeom prst="roundRect">
            <a:avLst>
              <a:gd name="adj" fmla="val 10000"/>
            </a:avLst>
          </a:prstGeom>
          <a:solidFill>
            <a:srgbClr val="8E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99448" y="1188720"/>
            <a:ext cx="2331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④ Action  </a:t>
            </a:r>
            <a:r>
              <a:rPr sz="1100" b="1">
                <a:solidFill>
                  <a:srgbClr val="E4ECF5"/>
                </a:solidFill>
                <a:latin typeface="Malgun Gothic"/>
                <a:ea typeface="Malgun Gothic"/>
                <a:cs typeface="Malgun Gothic"/>
              </a:rPr>
              <a:t>실행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847088"/>
            <a:ext cx="112745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🏦 은행 · 실측(코드 근거) — 통합 흐름 : 백엔드 실시간 + 고위험은 에이전트로 승격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121408"/>
            <a:ext cx="2514600" cy="1737360"/>
          </a:xfrm>
          <a:prstGeom prst="roundRect">
            <a:avLst>
              <a:gd name="adj" fmla="val 8000"/>
            </a:avLst>
          </a:prstGeom>
          <a:solidFill>
            <a:srgbClr val="EDF2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2249424"/>
            <a:ext cx="2258568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사용자 행동 → 타입 이벤트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69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login_attempt · certificate_use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69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mobile_auth · password_history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69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append-only · CHECK 통제어휘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74136" y="2121408"/>
            <a:ext cx="2514600" cy="1737360"/>
          </a:xfrm>
          <a:prstGeom prst="roundRect">
            <a:avLst>
              <a:gd name="adj" fmla="val 8000"/>
            </a:avLst>
          </a:prstGeom>
          <a:solidFill>
            <a:srgbClr val="E9F4F3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2249424"/>
            <a:ext cx="2258568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0E6E78"/>
                </a:solidFill>
                <a:latin typeface="Malgun Gothic"/>
                <a:ea typeface="Malgun Gothic"/>
                <a:cs typeface="Malgun Gothic"/>
              </a:rPr>
              <a:t>이벤트 → 판단 가능한 신호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1">
                <a:solidFill>
                  <a:srgbClr val="0E6E78"/>
                </a:solidFill>
                <a:latin typeface="Malgun Gothic"/>
                <a:ea typeface="Malgun Gothic"/>
                <a:cs typeface="Malgun Gothic"/>
              </a:rPr>
              <a:t>• FDS 룰엔진 </a:t>
            </a:r>
            <a:r>
              <a:rPr sz="8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(백엔드)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  {window, threshold} → COUNT ≥ 임계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  + risk_weight (90/85/50)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• 에이전트: 곱셈 likelihood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2121408"/>
            <a:ext cx="2514600" cy="1737360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 w="12700">
            <a:solidFill>
              <a:srgbClr val="B5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2212848"/>
            <a:ext cx="2258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신호 → 확신·임계 판정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487168"/>
            <a:ext cx="2295144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2487168"/>
            <a:ext cx="21122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저위험(실시간) → </a:t>
            </a:r>
            <a:r>
              <a:rPr sz="86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BLOCK / MONITOR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962656"/>
            <a:ext cx="2295144" cy="749808"/>
          </a:xfrm>
          <a:prstGeom prst="roundRect">
            <a:avLst>
              <a:gd name="adj" fmla="val 8000"/>
            </a:avLst>
          </a:prstGeom>
          <a:solidFill>
            <a:srgbClr val="F7EAEF"/>
          </a:solidFill>
          <a:ln w="15875">
            <a:solidFill>
              <a:srgbClr val="8E2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3026663"/>
            <a:ext cx="21122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⚡ 고위험 → 에이전트 조사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confidence 게이트 ≥ 0.75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fail-closed(사망·후견) · L0~L4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08008" y="2121408"/>
            <a:ext cx="2514600" cy="1737360"/>
          </a:xfrm>
          <a:prstGeom prst="roundRect">
            <a:avLst>
              <a:gd name="adj" fmla="val 8000"/>
            </a:avLst>
          </a:prstGeom>
          <a:solidFill>
            <a:srgbClr val="F7EAE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36024" y="2249424"/>
            <a:ext cx="2258568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판정 → 실행 (사람 게이트)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69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로그인 차단 · 계정 잠금 </a:t>
            </a:r>
            <a:r>
              <a:rPr sz="78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(백엔드)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69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FREEZE_PAYMENT · FILE_STR</a:t>
            </a:r>
            <a:r>
              <a:rPr sz="78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69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ESCALATE · NONE</a:t>
            </a:r>
            <a:r>
              <a:rPr sz="78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→ HITL 승인 + RBAC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2121408"/>
            <a:ext cx="402336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88736" y="2121408"/>
            <a:ext cx="402336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05672" y="2121408"/>
            <a:ext cx="402336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877055"/>
            <a:ext cx="30998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↳ 에이전트 권고 → HITL 승인 시 Action 으로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160520"/>
            <a:ext cx="112745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🎯 CRM · 그로스 번역 </a:t>
            </a:r>
            <a:r>
              <a:rPr sz="10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(같은 4단계 뼈대)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407408"/>
            <a:ext cx="2514600" cy="841248"/>
          </a:xfrm>
          <a:prstGeom prst="roundRect">
            <a:avLst>
              <a:gd name="adj" fmla="val 8000"/>
            </a:avLst>
          </a:prstGeom>
          <a:solidFill>
            <a:srgbClr val="EDF2FA"/>
          </a:solidFill>
          <a:ln w="9525">
            <a:solidFill>
              <a:srgbClr val="1B3A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" y="4517136"/>
            <a:ext cx="22585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signup_started · first_purchase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cart_abandoned · 7d_inactive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4407408"/>
            <a:ext cx="40233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74136" y="4407408"/>
            <a:ext cx="2514600" cy="841248"/>
          </a:xfrm>
          <a:prstGeom prst="roundRect">
            <a:avLst>
              <a:gd name="adj" fmla="val 8000"/>
            </a:avLst>
          </a:prstGeom>
          <a:solidFill>
            <a:srgbClr val="E9F4F3"/>
          </a:solidFill>
          <a:ln w="9525">
            <a:solidFill>
              <a:srgbClr val="0E6E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02152" y="4517136"/>
            <a:ext cx="22585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세그먼트 조건 / 트리거 룰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(= condition_json 동형)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88736" y="4407408"/>
            <a:ext cx="40233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91072" y="4407408"/>
            <a:ext cx="2514600" cy="841248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 w="9525">
            <a:solidFill>
              <a:srgbClr val="B56A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19088" y="4517136"/>
            <a:ext cx="22585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발송 자격 판정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동의 · frequency cap · 우선순위 · A/B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05672" y="4407408"/>
            <a:ext cx="40233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08008" y="4407408"/>
            <a:ext cx="2514600" cy="841248"/>
          </a:xfrm>
          <a:prstGeom prst="roundRect">
            <a:avLst>
              <a:gd name="adj" fmla="val 8000"/>
            </a:avLst>
          </a:prstGeom>
          <a:solidFill>
            <a:srgbClr val="F7EAEF"/>
          </a:solidFill>
          <a:ln w="9525">
            <a:solidFill>
              <a:srgbClr val="8E2F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36024" y="4517136"/>
            <a:ext cx="22585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메시지 발송 (쿠폰 · 리마인드)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채널 · 시점 선택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8000"/>
            </a:avLst>
          </a:prstGeom>
          <a:solidFill>
            <a:srgbClr val="E9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" y="5541264"/>
            <a:ext cx="10789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왜 Rule과 Action 사이에 Decision인가  </a:t>
            </a:r>
            <a:r>
              <a:rPr sz="10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Rule은 '신호'(실패 5회), Action은 '실행'(차단)일 뿐 — 그 사이 확신·임계·자격·사람 승인이라는 판정이 없으면 오탐(은행)·과발송(CRM)을 못 막는다.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★ 접합점  </a:t>
            </a:r>
            <a:r>
              <a:rPr sz="10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백엔드는 실시간 자동 판정, 고위험만 에이전트 심층 조사로 승격 → 권고 → HITL.   은행 confidence 게이트+HITL  =  CRM frequency cap+eligibility (같은 자리)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382512"/>
            <a:ext cx="11338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EC5E8"/>
                </a:solidFill>
                <a:latin typeface="Malgun Gothic"/>
                <a:ea typeface="Malgun Gothic"/>
                <a:cs typeface="Malgun Gothic"/>
              </a:rPr>
              <a:t>이벤트 택소노미 소비 모델  </a:t>
            </a: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Event → Rule → Decision → Action  ·  백엔드 FDS(실시간) + 조사 에이전트(심층) 통합</a:t>
            </a:r>
            <a:r>
              <a:rPr sz="850" b="0">
                <a:solidFill>
                  <a:srgbClr val="B9CBE0"/>
                </a:solidFill>
                <a:latin typeface="Malgun Gothic"/>
                <a:ea typeface="Malgun Gothic"/>
                <a:cs typeface="Malgun Gothic"/>
              </a:rPr>
              <a:t>      실선=은행 실측(코드) · 점선=CRM 번역(설계)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