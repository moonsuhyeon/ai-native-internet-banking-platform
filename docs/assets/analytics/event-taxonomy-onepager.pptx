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이벤트 택소노미 &amp; 트래킹 플랜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규제 도메인 백엔드 이벤트 스키마  →  프로덕트·마케팅 분석 트래킹 플랜으로 번역</a:t>
            </a:r>
            <a:r>
              <a:rPr sz="13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     |  Internet Banking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70432"/>
            <a:ext cx="11457432" cy="25603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2852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아이덴티티 모델 </a:t>
            </a:r>
            <a:r>
              <a:rPr sz="11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· 익명→식별 스티칭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64208"/>
            <a:ext cx="2852928" cy="713232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746504"/>
            <a:ext cx="259689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[익명]  </a:t>
            </a:r>
            <a:r>
              <a:rPr sz="105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anonymous_id + device_fp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login_attempt.customer_id = NULL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68296"/>
            <a:ext cx="28529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↓  본인확인 CI 스티칭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651760"/>
            <a:ext cx="2852928" cy="713232"/>
          </a:xfrm>
          <a:prstGeom prst="roundRect">
            <a:avLst>
              <a:gd name="adj" fmla="val 8000"/>
            </a:avLst>
          </a:prstGeom>
          <a:solidFill>
            <a:srgbClr val="E9F4F3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2734056"/>
            <a:ext cx="259689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[본인확인]  </a:t>
            </a:r>
            <a:r>
              <a:rPr sz="105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ci (hash)  ← 스티칭 키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identity_verification.ci_value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355848"/>
            <a:ext cx="28529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↓  alias → identify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639312"/>
            <a:ext cx="2852928" cy="713232"/>
          </a:xfrm>
          <a:prstGeom prst="roundRect">
            <a:avLst>
              <a:gd name="adj" fmla="val 8000"/>
            </a:avLst>
          </a:prstGeom>
          <a:solidFill>
            <a:srgbClr val="EDF2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3721608"/>
            <a:ext cx="259689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[식별]  </a:t>
            </a:r>
            <a:r>
              <a:rPr sz="105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user_id = customer_id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한 사람=한 party (V17 UNIQUE)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325880"/>
            <a:ext cx="83969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이벤트 카탈로그 </a:t>
            </a:r>
            <a:r>
              <a:rPr sz="11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· 생애주기 5단계  (각 이벤트 = 원본 백엔드 소스 매핑)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1664208"/>
            <a:ext cx="1576974" cy="2999232"/>
          </a:xfrm>
          <a:prstGeom prst="roundRect">
            <a:avLst>
              <a:gd name="adj" fmla="val 8000"/>
            </a:avLst>
          </a:prstGeom>
          <a:solidFill>
            <a:srgbClr val="EDF2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29000" y="1664208"/>
            <a:ext cx="1576974" cy="475488"/>
          </a:xfrm>
          <a:prstGeom prst="roundRect">
            <a:avLst>
              <a:gd name="adj" fmla="val 10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1682496"/>
            <a:ext cx="139409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① </a:t>
            </a: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온보딩·획득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9584" y="2231136"/>
            <a:ext cx="1375806" cy="1947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9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signup_started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9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identity_verification_
completed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9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signup_completed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4187952"/>
            <a:ext cx="1375806" cy="43891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src </a:t>
            </a:r>
            <a:r>
              <a:rPr sz="7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mobile_auth · identity_
verification · customer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33990" y="1664208"/>
            <a:ext cx="1576974" cy="2999232"/>
          </a:xfrm>
          <a:prstGeom prst="roundRect">
            <a:avLst>
              <a:gd name="adj" fmla="val 8000"/>
            </a:avLst>
          </a:prstGeom>
          <a:solidFill>
            <a:srgbClr val="E9F4F3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33990" y="1664208"/>
            <a:ext cx="1576974" cy="475488"/>
          </a:xfrm>
          <a:prstGeom prst="roundRect">
            <a:avLst>
              <a:gd name="adj" fmla="val 10000"/>
            </a:avLst>
          </a:prstGeom>
          <a:solidFill>
            <a:srgbClr val="0E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25430" y="1682496"/>
            <a:ext cx="139409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② </a:t>
            </a: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인증·재방문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4574" y="2231136"/>
            <a:ext cx="1375806" cy="1947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0E6E78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9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login_attempted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0E6E78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9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login_succeeded /
login_failed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0E6E78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9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qr_login_approved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4574" y="4187952"/>
            <a:ext cx="1375806" cy="43891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src </a:t>
            </a:r>
            <a:r>
              <a:rPr sz="7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login_attempt ·
qr_login_token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38980" y="1664208"/>
            <a:ext cx="1576974" cy="2999232"/>
          </a:xfrm>
          <a:prstGeom prst="roundRect">
            <a:avLst>
              <a:gd name="adj" fmla="val 8000"/>
            </a:avLst>
          </a:prstGeom>
          <a:solidFill>
            <a:srgbClr val="FBF2E6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38980" y="1664208"/>
            <a:ext cx="1576974" cy="475488"/>
          </a:xfrm>
          <a:prstGeom prst="roundRect">
            <a:avLst>
              <a:gd name="adj" fmla="val 10000"/>
            </a:avLst>
          </a:prstGeom>
          <a:solidFill>
            <a:srgbClr val="B5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30420" y="1682496"/>
            <a:ext cx="139409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③ </a:t>
            </a: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활성화 (Aha)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9564" y="2231136"/>
            <a:ext cx="1375806" cy="1947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B56A1F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9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transfer_started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B56A1F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9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transfer_completed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B56A1F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9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withdrawal_account_
registered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39564" y="4187952"/>
            <a:ext cx="1375806" cy="43891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src </a:t>
            </a:r>
            <a:r>
              <a:rPr sz="7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certificate_use ·
transfer_limit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43970" y="1664208"/>
            <a:ext cx="1576974" cy="2999232"/>
          </a:xfrm>
          <a:prstGeom prst="roundRect">
            <a:avLst>
              <a:gd name="adj" fmla="val 8000"/>
            </a:avLst>
          </a:prstGeom>
          <a:solidFill>
            <a:srgbClr val="F7EAE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543970" y="1664208"/>
            <a:ext cx="1576974" cy="475488"/>
          </a:xfrm>
          <a:prstGeom prst="roundRect">
            <a:avLst>
              <a:gd name="adj" fmla="val 10000"/>
            </a:avLst>
          </a:prstGeom>
          <a:solidFill>
            <a:srgbClr val="8E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35410" y="1682496"/>
            <a:ext cx="139409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④ </a:t>
            </a: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신뢰·보안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4554" y="2231136"/>
            <a:ext cx="1375806" cy="1947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9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fds_alert_triggered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9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cert_pin_failed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4554" y="4187952"/>
            <a:ext cx="1375806" cy="43891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src </a:t>
            </a:r>
            <a:r>
              <a:rPr sz="7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fds_detection ·
certificate_use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48960" y="1664208"/>
            <a:ext cx="1576974" cy="2999232"/>
          </a:xfrm>
          <a:prstGeom prst="roundRect">
            <a:avLst>
              <a:gd name="adj" fmla="val 8000"/>
            </a:avLst>
          </a:prstGeom>
          <a:solidFill>
            <a:srgbClr val="ECF3E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248960" y="1664208"/>
            <a:ext cx="1576974" cy="475488"/>
          </a:xfrm>
          <a:prstGeom prst="roundRect">
            <a:avLst>
              <a:gd name="adj" fmla="val 10000"/>
            </a:avLst>
          </a:prstGeom>
          <a:solidFill>
            <a:srgbClr val="3B6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40400" y="1682496"/>
            <a:ext cx="139409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⑤ </a:t>
            </a: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리텐션·생애주기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49544" y="2231136"/>
            <a:ext cx="1375806" cy="1947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3B6E3F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9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customer_status_
changed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3B6E3F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9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dormant_reactivated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49544" y="4187952"/>
            <a:ext cx="1375806" cy="43891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src </a:t>
            </a:r>
            <a:r>
              <a:rPr sz="7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customer_status_
history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48463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대표 퍼널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5120640"/>
            <a:ext cx="58064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온보딩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signup_started  →  id_verified  →  signup_completed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5120640"/>
            <a:ext cx="5486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활성화(TTV)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signup_completed  →  login_succeeded  →  transfer_completed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5650992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거버넌스 · PII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" y="5925312"/>
            <a:ext cx="2971800" cy="36576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5488" y="5925312"/>
            <a:ext cx="2788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통제 어휘(enum) = 백엔드 CHECK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447288" y="5925312"/>
            <a:ext cx="3246120" cy="36576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57016" y="5925312"/>
            <a:ext cx="306323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PII: 금액→band · 계좌번호 수집금지 · CI 해시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03136" y="5925312"/>
            <a:ext cx="2606040" cy="36576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12864" y="5925312"/>
            <a:ext cx="2423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버전관리 = Flyway 마이그레이션 사고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518904" y="5925312"/>
            <a:ext cx="2651760" cy="36576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28632" y="5925312"/>
            <a:ext cx="246887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이벤트 리뷰 게이트(네이밍·enum·PII·버전)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6382512"/>
            <a:ext cx="114300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EC5E8"/>
                </a:solidFill>
                <a:latin typeface="Malgun Gothic"/>
                <a:ea typeface="Malgun Gothic"/>
                <a:cs typeface="Malgun Gothic"/>
              </a:rPr>
              <a:t>증명 역량   </a:t>
            </a: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통제어휘 이벤트 정의  ·  아이덴티티 레졸루션  ·  PII 거버넌스  ·  퍼널/생애주기 모델링  ·  버전관리형 택소노미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