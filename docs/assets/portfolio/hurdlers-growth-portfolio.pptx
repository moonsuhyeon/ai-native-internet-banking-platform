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PORTFOLIO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0876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문수현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7E3F2"/>
                </a:solidFill>
                <a:latin typeface="Malgun Gothic"/>
                <a:ea typeface="Malgun Gothic"/>
                <a:cs typeface="Malgun Gothic"/>
              </a:rPr>
              <a:t>허들러스 | 그로스 컨설턴트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4206240" cy="27432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이벤트 → Rule Engine →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8EC"/>
                </a:solidFill>
                <a:latin typeface="Malgun Gothic"/>
                <a:ea typeface="Malgun Gothic"/>
                <a:cs typeface="Malgun Gothic"/>
              </a:rPr>
              <a:t>데이터 기반 '의사결정 워크플로우'를 설계하는 그로스 컨설턴트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92040"/>
            <a:ext cx="166878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E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6687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이벤트 택소노미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0340" y="4892040"/>
            <a:ext cx="327355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E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0340" y="4892040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CRM 시나리오(Rule Engine)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2492" y="4892040"/>
            <a:ext cx="3026664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E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2492" y="4892040"/>
            <a:ext cx="30266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Agent · Claude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7756" y="4892040"/>
            <a:ext cx="1915668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9EC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77756" y="4892040"/>
            <a:ext cx="19156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스키마 ·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dalmate777@gmail.com    ·    010-0000-0000(연락처)    ·    github.com/(포트폴리오)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핵심 역량 요약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규제 도메인에서 '사용자 행동을 이벤트로 정의하고, 데이터로 다음 액션을 결정하는 워크플로우'를 설계했습니다.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12898" cy="196596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12898" cy="54864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481328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이벤트 택소노미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48840"/>
            <a:ext cx="232029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인증 도메인에서 통제 어휘·Event Parameter 표준·아이덴티티 스티칭·네이밍 룰을 직접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4418" y="1280160"/>
            <a:ext cx="2612898" cy="196596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4418" y="1280160"/>
            <a:ext cx="2612898" cy="54864"/>
          </a:xfrm>
          <a:prstGeom prst="roundRect">
            <a:avLst>
              <a:gd name="adj" fmla="val 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0722" y="1481328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CRM 시나리오 = Rule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0722" y="2148840"/>
            <a:ext cx="232029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Event → Condition → Action 구조를 실제 룰엔진(FDS)으로 구현 — CRM 저니 트리거와 1:1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6" y="1280160"/>
            <a:ext cx="2612898" cy="196596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1636" y="1280160"/>
            <a:ext cx="2612898" cy="54864"/>
          </a:xfrm>
          <a:prstGeom prst="roundRect">
            <a:avLst>
              <a:gd name="adj" fmla="val 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7940" y="1481328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데이터 스키마 ·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40" y="2148840"/>
            <a:ext cx="232029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34개 테이블 ERD·Flyway 마이그레이션·마트(mart) 테이블 설계 사고 (BigQuery/Looker 이관 가능)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8854" y="1280160"/>
            <a:ext cx="2612898" cy="1965960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18854" y="1280160"/>
            <a:ext cx="2612898" cy="54864"/>
          </a:xfrm>
          <a:prstGeom prst="roundRect">
            <a:avLst>
              <a:gd name="adj" fmla="val 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5158" y="1481328"/>
            <a:ext cx="232029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AI Agent ·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5158" y="2148840"/>
            <a:ext cx="232029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멀티에이전트 오케스트레이션 설계 + Claude Code 네이티브 워크플로우 (AI 친화 우대 요건 충족)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채용공고 요구 → 근거 매핑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8404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PA 분석용 이벤트 택소노미 설계 경험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4048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인증 도메인 이벤트 택소노미 설계 (통제어휘·파라미터 표준)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84048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충족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4340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34340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CRM 마케팅 시나리오 직접 설계 경험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34340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Event→Rule→Action 룰엔진 설계 (FDS) → CRM 저니로 번역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34340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충족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4632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84632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빅쿼리·Looker Studio·SQL 마트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84632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ERD·마이그레이션·이벤트 마트 스키마 설계 사고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84632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전이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4924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34924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PM으로서 부서·클라이언트 소통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34924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도메인 오너로 프론트-백엔드·팀 협업 매니징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49840" y="534924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충족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52160"/>
            <a:ext cx="11274552" cy="50292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585216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AI·Agent·Claude Code 친화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5852160"/>
            <a:ext cx="5212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멀티에이전트 오케스트레이터 설계, Claude Code 상시 활용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5852160"/>
            <a:ext cx="1554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우대 충족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프로젝트 · 인터넷뱅킹 (규제 도메인 데이터 설계)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마이크로서비스 인터넷뱅킹 MVP에서 고객·인증보안계 도메인을 설계·구현했습니다.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담당 역할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고객계·인증보안계 도메인 오너 (백엔드+프론트)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회원·인증·본인확인·세션/토큰·FDS 데이터 설계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게이트웨이 JWT 인증·헤더 전파 흐름 설계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프론트–백엔드 데이터 흐름 end-to-end 설계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스택  </a:t>
            </a:r>
            <a:r>
              <a:rPr sz="9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Java·Spring Boot MSA · PostgreSQL · Redis · Docker · Next.js · Prometheus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266547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408176"/>
            <a:ext cx="23911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설계 테이블 (고객 16 + 인증보안 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6276" y="1280160"/>
            <a:ext cx="266547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2580" y="1408176"/>
            <a:ext cx="23911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V1–V31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Flyway 스키마 마이그레이션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23160"/>
            <a:ext cx="266547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2551176"/>
            <a:ext cx="23911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append-only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인증 이벤트 이력 모델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6276" y="2423160"/>
            <a:ext cx="2665476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2580" y="2551176"/>
            <a:ext cx="23911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1:1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한 사람 = 한 party (CI 유니크)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11274552" cy="96012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107899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그로스와의 연결  </a:t>
            </a:r>
            <a:r>
              <a:rPr sz="10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사용자 행동을 '타입화된 이벤트'로 정의하고 프론트→게이트웨이→백엔드→이벤트 스토어 흐름을 설계한 경험은,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         GA4/Amplitude 이벤트 택소노미와 CRM 트리거 설계로 그대로 이식됩니다. 도구가 아니라 '설계 근육'이 핵심입니다.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데이터 흐름  </a:t>
            </a:r>
            <a:r>
              <a:rPr sz="93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web → api.ts(Bearer·X-Customer-Id) → api-gateway(JWT 검증·X-User-Role/X-Employee-Id 주입·스푸핑 차단) → 서비스 → 이벤트 INSERT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택소노미 설계  · 핵심 역량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도메인별 이벤트를 통제 어휘로 정의하고, 공통 Event Parameter 스키마와 아이덴티티 스티칭을 설계했습니다.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050084" cy="178308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050084" cy="365760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8672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700784"/>
            <a:ext cx="1848916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login_request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login_failure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account_locked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660903"/>
            <a:ext cx="184891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login_id·channel·ip·failure_reason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login_attempt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3316" y="1280160"/>
            <a:ext cx="2050084" cy="178308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63316" y="1280160"/>
            <a:ext cx="2050084" cy="365760"/>
          </a:xfrm>
          <a:prstGeom prst="roundRect">
            <a:avLst>
              <a:gd name="adj" fmla="val 10000"/>
            </a:avLst>
          </a:prstGeom>
          <a:solidFill>
            <a:srgbClr val="0E6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4756" y="1298448"/>
            <a:ext cx="18672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OTP·본인확인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3900" y="1700784"/>
            <a:ext cx="1848916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otp_sent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otp_verified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3900" y="2660903"/>
            <a:ext cx="184891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phone·carrier·purpose·ci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mobile_auth·identity_verification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9433" y="1280160"/>
            <a:ext cx="2050084" cy="178308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9433" y="1280160"/>
            <a:ext cx="2050084" cy="365760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0873" y="1298448"/>
            <a:ext cx="18672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세션·토큰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0017" y="1700784"/>
            <a:ext cx="1848916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session_created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access_token_issued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refresh_token_issued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token_refreshed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017" y="2660903"/>
            <a:ext cx="184891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session_id·customer_id·token_type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login_session·api_token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5550" y="1280160"/>
            <a:ext cx="2050084" cy="178308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75550" y="1280160"/>
            <a:ext cx="2050084" cy="365760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6990" y="1298448"/>
            <a:ext cx="18672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인증서·QR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6134" y="1700784"/>
            <a:ext cx="1848916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cert_login_success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cert_pin_failed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qr_login_approved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6134" y="2660903"/>
            <a:ext cx="184891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cert_type·result_code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certificate_use·qr_login_token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81667" y="1280160"/>
            <a:ext cx="2050084" cy="1783080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12700">
            <a:solidFill>
              <a:srgbClr val="3B6E3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81667" y="1280160"/>
            <a:ext cx="2050084" cy="365760"/>
          </a:xfrm>
          <a:prstGeom prst="roundRect">
            <a:avLst>
              <a:gd name="adj" fmla="val 10000"/>
            </a:avLst>
          </a:prstGeom>
          <a:solidFill>
            <a:srgbClr val="3B6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3107" y="1298448"/>
            <a:ext cx="18672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FDS·감사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2251" y="1700784"/>
            <a:ext cx="1848916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fds_login_evaluated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fds_blocked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login_attempt_saved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2251" y="2660903"/>
            <a:ext cx="1848916" cy="384048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param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rule_id·device_id·risk_score*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src  </a:t>
            </a:r>
            <a:r>
              <a:rPr sz="7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fds_rule·fds_detection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46120"/>
            <a:ext cx="6675120" cy="18288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01568"/>
            <a:ext cx="6309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네이밍 &amp; 파라미터 설계 원칙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snake_case · 화면명이 아닌 '비즈니스 이벤트' 기준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모든 이벤트 공통 파라미터: customer_id · event_time 필수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값은 통제 어휘(enum)로 고정 — 백엔드 CHECK 제약의 분석 버전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PII 등급 지정: 금액→band 버킷 · 계좌번호 수집금지 · CI 해시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버전 관리 = Flyway 마이그레이션 사고 (파괴적 변경은 새 이벤트)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3246120"/>
            <a:ext cx="4416552" cy="182880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401568"/>
            <a:ext cx="397763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아이덴티티 스티칭 (익명→식별)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anonymous_id + device_fp</a:t>
            </a: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(익명)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      ↓  본인확인 CI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ci (hash)</a:t>
            </a: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identity_verification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      ↓  alias → identify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user_id = customer_id</a:t>
            </a: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한 사람=한 party(V17)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19379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* risk_score = 제안 확장(현재 미구현) · 나머지 src·param은 실측 스키마 기준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활성화 퍼널 &amp; 전환 KPI 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이벤트를 퍼널·KPI로 연결해 '어디서 이탈하는가'를 진단하는 그로스 관점 설계.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27048"/>
            <a:ext cx="160020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가입 시작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17320"/>
            <a:ext cx="5897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0068" y="141732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12700">
            <a:solidFill>
              <a:srgbClr val="0E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1508" y="1527048"/>
            <a:ext cx="160020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본인확인·CI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identity_verified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148" y="1417320"/>
            <a:ext cx="5897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41732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4375" y="1527048"/>
            <a:ext cx="160020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가입 완료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signup_completed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1417320"/>
            <a:ext cx="5897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5804" y="141732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12700">
            <a:solidFill>
              <a:srgbClr val="0E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67244" y="1527048"/>
            <a:ext cx="160020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첫 로그인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8884" y="1417320"/>
            <a:ext cx="589788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41732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12700">
            <a:solidFill>
              <a:srgbClr val="B5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0111" y="1527048"/>
            <a:ext cx="160020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첫 이체·Aha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transfer_completed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487168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전환 KPI  ▸  </a:t>
            </a:r>
            <a:r>
              <a:rPr sz="10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본인확인 완료율 → 가입 전환율 → 활성화율 → 첫거래 전환율(Time-to-Value)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63240"/>
            <a:ext cx="35874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72968"/>
            <a:ext cx="33131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로그인 성공률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Consolas"/>
                <a:ea typeface="Consolas"/>
                <a:cs typeface="Consolas"/>
              </a:rPr>
              <a:t>login_success / login_request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00728" y="3063240"/>
            <a:ext cx="35874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7032" y="3172968"/>
            <a:ext cx="33131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본인확인 완료율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Consolas"/>
                <a:ea typeface="Consolas"/>
                <a:cs typeface="Consolas"/>
              </a:rPr>
              <a:t>identity_verified / otp_sent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4256" y="3063240"/>
            <a:ext cx="35874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560" y="3172968"/>
            <a:ext cx="33131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OTP 이탈률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Consolas"/>
                <a:ea typeface="Consolas"/>
                <a:cs typeface="Consolas"/>
              </a:rPr>
              <a:t>1 − otp_verified / otp_sent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31920"/>
            <a:ext cx="35874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041648"/>
            <a:ext cx="33131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활성화율(Aha)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Consolas"/>
                <a:ea typeface="Consolas"/>
                <a:cs typeface="Consolas"/>
              </a:rPr>
              <a:t>first transfer_completed / signup_completed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0728" y="3931920"/>
            <a:ext cx="3587496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7032" y="4041648"/>
            <a:ext cx="33131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FDS 차단율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485"/>
                </a:solidFill>
                <a:latin typeface="Consolas"/>
                <a:ea typeface="Consolas"/>
                <a:cs typeface="Consolas"/>
              </a:rPr>
              <a:t>fds_blocked / fds_login_evaluated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53328" y="3931920"/>
            <a:ext cx="5678424" cy="749808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041648"/>
            <a:ext cx="5303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이탈 진단 관점  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본인확인 기관(NICE/KCB/SCI/PASS)별 성공률, OTP 재시도 분포로 온보딩 마찰 지점 특정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도구 매핑  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각 이벤트/파라미터는 GA4·Amplitude·Mixpanel 트래킹 플랜으로 1:1 이식 가능 (스키마→track() 계측)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CRM 시나리오 설계 = Event → Rule Engine → Action  · 핵심 역량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은행 FDS와 CRM 저니는 '이벤트를 감지해 다음 액션을 결정하는' 동일한 룰엔진 구조입니다.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41264" y="1234440"/>
            <a:ext cx="1097280" cy="288036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41264" y="1371600"/>
            <a:ext cx="109728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공통 스파인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Event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Rule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사용자 / 신원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2801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고객 / 유입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정체성 결정 (customer·party)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7373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고객 상태 (라이프사이클)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권한·발송 자격 (게이트)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945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세그먼트 · 동의/빈도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이벤트 (로그인·이체·OTP 실패)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517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행동 이벤트 (첫구매·7일 미구매)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이상탐지 (FDS Rule)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1089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트리거 탐지 (CRM Rule)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업무 수행 (승인·차단·추가인증)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56616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메시지 발송 (쿠폰·리마인드)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06070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은행 인증 워크플로우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060704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CRM 워크플로우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51960"/>
            <a:ext cx="5500116" cy="123444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9525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79976"/>
            <a:ext cx="51343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은행  </a:t>
            </a: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실제 예시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OTP 5분 5회 실패</a:t>
            </a: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  →  </a:t>
            </a: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fds_rule (condition·weight)</a:t>
            </a: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  →  </a:t>
            </a: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추가 인증 (CHALLENGE)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4251960"/>
            <a:ext cx="5500116" cy="1234440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9525">
            <a:solidFill>
              <a:srgbClr val="3B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4516" y="4379976"/>
            <a:ext cx="51343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CRM  </a:t>
            </a:r>
            <a:r>
              <a:rPr sz="9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실제 예시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첫 구매 후 7일 미구매</a:t>
            </a: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  →  </a:t>
            </a: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CRM Rule (segment·priority)</a:t>
            </a: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  →  </a:t>
            </a:r>
            <a:r>
              <a:rPr sz="105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쿠폰 발송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2356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빈도 제어까지 동형  </a:t>
            </a:r>
            <a:r>
              <a:rPr sz="9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account_locked(N회 초과 잠금)  ↔  frequency cap(N회 초과 발송 중단) — 같은 '초과 시 차단' 구조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데이터 파이프라인 &amp; 대시보드 설계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수집→이벤트 스토어→웨어하우스→마트→대시보드. SQL 마트 설계로 KPI를 재현 가능하게 만듭니다.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20824" cy="77724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이벤트 수집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track() · SDK / 백엔드 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8024" y="1371600"/>
            <a:ext cx="29260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1371600"/>
            <a:ext cx="2020824" cy="77724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9525">
            <a:solidFill>
              <a:srgbClr val="0E6E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481328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E6E78"/>
                </a:solidFill>
                <a:latin typeface="Malgun Gothic"/>
                <a:ea typeface="Malgun Gothic"/>
                <a:cs typeface="Malgun Gothic"/>
              </a:rPr>
              <a:t>이벤트 스토어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append-only 이벤트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371600"/>
            <a:ext cx="29260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71600"/>
            <a:ext cx="2020824" cy="777240"/>
          </a:xfrm>
          <a:prstGeom prst="roundRect">
            <a:avLst>
              <a:gd name="adj" fmla="val 8000"/>
            </a:avLst>
          </a:prstGeom>
          <a:solidFill>
            <a:srgbClr val="FBF2E6"/>
          </a:solidFill>
          <a:ln w="9525">
            <a:solidFill>
              <a:srgbClr val="B5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1481328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웨어하우스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BigQuery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371600"/>
            <a:ext cx="29260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371600"/>
            <a:ext cx="2020824" cy="777240"/>
          </a:xfrm>
          <a:prstGeom prst="roundRect">
            <a:avLst>
              <a:gd name="adj" fmla="val 8000"/>
            </a:avLst>
          </a:prstGeom>
          <a:solidFill>
            <a:srgbClr val="F7EAEF"/>
          </a:solidFill>
          <a:ln w="9525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481328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마트(SQL)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fct_ · dim_ · agg_ 테이블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371600"/>
            <a:ext cx="29260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10928" y="1371600"/>
            <a:ext cx="2020824" cy="777240"/>
          </a:xfrm>
          <a:prstGeom prst="roundRect">
            <a:avLst>
              <a:gd name="adj" fmla="val 8000"/>
            </a:avLst>
          </a:prstGeom>
          <a:solidFill>
            <a:srgbClr val="ECF3EA"/>
          </a:solidFill>
          <a:ln w="9525">
            <a:solidFill>
              <a:srgbClr val="3B6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7" y="1481328"/>
            <a:ext cx="183794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3B6E3F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Looker 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87168"/>
            <a:ext cx="4572000" cy="228600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4206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샘플 마트 설계 (star schema)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A2B45"/>
                </a:solidFill>
                <a:latin typeface="Consolas"/>
                <a:ea typeface="Consolas"/>
                <a:cs typeface="Consolas"/>
              </a:rPr>
              <a:t>fct_auth_events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이벤트 팩트 (event_name·customer_id·event_time·params)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A2B45"/>
                </a:solidFill>
                <a:latin typeface="Consolas"/>
                <a:ea typeface="Consolas"/>
                <a:cs typeface="Consolas"/>
              </a:rPr>
              <a:t>dim_customer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고객 차원 (status·grade·join_channel)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A2B45"/>
                </a:solidFill>
                <a:latin typeface="Consolas"/>
                <a:ea typeface="Consolas"/>
                <a:cs typeface="Consolas"/>
              </a:rPr>
              <a:t>dim_device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기기 차원 (type·os·trusted)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A2B45"/>
                </a:solidFill>
                <a:latin typeface="Consolas"/>
                <a:ea typeface="Consolas"/>
                <a:cs typeface="Consolas"/>
              </a:rPr>
              <a:t>agg_daily_funnel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  일자별 퍼널 집계 (단계별 전환)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2487168"/>
            <a:ext cx="6519672" cy="2286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651760"/>
            <a:ext cx="6126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KPI SQL 예시 — 일자별 로그인 성공률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SELECT event_date,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  COUNTIF(event_name='login_success') AS success,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  COUNTIF(event_name='login_request') AS request,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  SAFE_DIVIDE(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    COUNTIF(event_name='login_success'),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    COUNTIF(event_name='login_request')) AS login_success_rate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FROM mart.fct_auth_events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CFE0F2"/>
                </a:solidFill>
                <a:latin typeface="Consolas"/>
                <a:ea typeface="Consolas"/>
                <a:cs typeface="Consolas"/>
              </a:rPr>
              <a:t>GROUP BY event_date ORDER BY event_date;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포인트  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이벤트 스키마를 '재현 가능한 마트'로 내려 KPI를 SQL 한 벌로 표준화 → 대시보드·CRM 세그먼트가 같은 정의를 공유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0896"/>
            <a:ext cx="11247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2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AI 활용 &amp; 일하는 방식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AI로 인간의 가능성을 확장한다는 허들러스의 미션과 저의 작업 방식이 정렬됩니다.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4552" cy="23774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605272" cy="214884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605272" cy="54864"/>
          </a:xfrm>
          <a:prstGeom prst="roundRect">
            <a:avLst>
              <a:gd name="adj" fmla="val 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AI Agent · Claude Code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멀티에이전트 오케스트레이터 설계 (도메인 에이전트 연결)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Claude Code 상시 활용해 설계·문서·데이터 작업 자동화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'AI가 인간 역량을 확장' — 회사 미션과 동일한 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280160"/>
            <a:ext cx="5605272" cy="2148840"/>
          </a:xfrm>
          <a:prstGeom prst="roundRect">
            <a:avLst>
              <a:gd name="adj" fmla="val 8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280160"/>
            <a:ext cx="5605272" cy="54864"/>
          </a:xfrm>
          <a:prstGeom prst="roundRect">
            <a:avLst>
              <a:gd name="adj" fmla="val 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481328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일하는 방식 (PM)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근거 우선 · 문제를 단계로 분해해 소통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도메인 오너로 프론트-백엔드·팀 협업 매니징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0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1개월 온보딩·상시 스터디 문화에 맞는 학습 민첩성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4552" cy="1051560"/>
          </a:xfrm>
          <a:prstGeom prst="roundRect">
            <a:avLst>
              <a:gd name="adj" fmla="val 8000"/>
            </a:avLst>
          </a:prstGeom>
          <a:solidFill>
            <a:srgbClr val="E9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22191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컬처 핏  </a:t>
            </a:r>
            <a:r>
              <a:rPr sz="10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수평적 문화·상시 스터디·근거 기반 토론을 선호합니다. '일 잘하고 친절한' 방식으로 클라이언트의 데이터 전환을 돕겠습니다.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지원 동기  </a:t>
            </a:r>
            <a:r>
              <a:rPr sz="105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규제 도메인에서 쌓은 '이벤트→룰엔진→액션' 설계 역량을, 고객의 그로스 의사결정 워크플로우 설계로 확장하고 싶습니다.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92040"/>
            <a:ext cx="11274552" cy="141732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127455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이벤트 → Rule Engine → Action, 하나의 철학으로 두 도메인을 관통합니다.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문수현   ·   dalmate777@gmail.com   ·   010-0000-0000(연락처)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528816"/>
            <a:ext cx="11274552" cy="10972"/>
          </a:xfrm>
          <a:prstGeom prst="roundRect">
            <a:avLst>
              <a:gd name="adj" fmla="val 8000"/>
            </a:avLst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83680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문수현 · 그로스 컨설턴트 포트폴리오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583680"/>
            <a:ext cx="9418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